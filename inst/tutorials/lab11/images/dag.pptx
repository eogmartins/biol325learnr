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55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 showGuides="1">
      <p:cViewPr varScale="1">
        <p:scale>
          <a:sx n="93" d="100"/>
          <a:sy n="93" d="100"/>
        </p:scale>
        <p:origin x="208" y="712"/>
      </p:cViewPr>
      <p:guideLst>
        <p:guide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91F8C-87ED-5B42-BAA7-579E08246F53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1A690-D63D-F642-B43A-570D90C4A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8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3EF6-33E9-98E1-30D4-679077CF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05041-EE3E-5427-EB50-B50004C88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897CC-061B-2B8D-D28F-DF155ECD3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•"/>
            </a:pPr>
            <a:r>
              <a:rPr lang="en-CA" dirty="0"/>
              <a:t>This full DAG combines all three structures simultaneously.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CA" dirty="0"/>
              <a:t>Key rule: in the fork and chain, conditioning CLOSES a path. In the collider, conditioning OPENS a path.</a:t>
            </a:r>
          </a:p>
          <a:p>
            <a:pPr marL="171450" indent="-171450">
              <a:buFontTx/>
              <a:buChar char="•"/>
            </a:pPr>
            <a:r>
              <a:rPr lang="en-CA" dirty="0"/>
              <a:t>Fork: Temperature → Nutrients and Temperature → Algae — temperature is a common cause (confounder) for the Nutrients → Algae relationship.</a:t>
            </a:r>
          </a:p>
          <a:p>
            <a:pPr marL="171450" indent="-171450">
              <a:buFontTx/>
              <a:buChar char="•"/>
            </a:pPr>
            <a:r>
              <a:rPr lang="en-CA" dirty="0"/>
              <a:t>Chain: Nutrients → Algae → Dissolved Oxygen — algae mediates the Nutrients → DO pathway.</a:t>
            </a:r>
          </a:p>
          <a:p>
            <a:pPr marL="171450" indent="-171450">
              <a:buFontTx/>
              <a:buChar char="•"/>
            </a:pPr>
            <a:r>
              <a:rPr lang="en-CA" dirty="0"/>
              <a:t>Collider: Temperature → Algae ← Nutrients (and Zooplankton) — Algae is a collider on the path between its multiple causes.</a:t>
            </a:r>
          </a:p>
          <a:p>
            <a:pPr marL="171450" indent="-171450">
              <a:buFontTx/>
              <a:buChar char="•"/>
            </a:pPr>
            <a:r>
              <a:rPr lang="en-CA" dirty="0"/>
              <a:t>Real ecological systems have all three structures simultaneously. This is why we need DAGs: to reason about which paths are open, which are blocked, and what adjustment strategy is valid for a given question.</a:t>
            </a:r>
          </a:p>
          <a:p>
            <a:pPr marL="171450" indent="-171450">
              <a:buFontTx/>
              <a:buChar char="•"/>
            </a:pPr>
            <a:r>
              <a:rPr lang="en-CA" dirty="0"/>
              <a:t>Teaser for Part II: how do we systematically read off the correct adjustment set from a DAG? — the backdoor criterion and d-separation.</a:t>
            </a:r>
          </a:p>
        </p:txBody>
      </p:sp>
    </p:spTree>
    <p:extLst>
      <p:ext uri="{BB962C8B-B14F-4D97-AF65-F5344CB8AC3E}">
        <p14:creationId xmlns:p14="http://schemas.microsoft.com/office/powerpoint/2010/main" val="271753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4F10-75F7-F3C1-6BAC-8A356EB54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3CA6F-5E0F-E76B-F8AD-DEAFD0ED5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0CE1-7F59-13DA-19A1-AC94FF9B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EA320-B71C-1A57-EEB4-44955653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46424-BBF0-DD03-3C90-5AD52BD4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2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12B2-D4E9-7BFE-3321-8D382DA62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82FF7-688A-BD83-4566-E28391D7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CE259-CC86-6B11-2FBB-23F3D3B9A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9300F-A64E-4496-BE05-66C6AF44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5317E-0228-311E-69A7-5DF05187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36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337E-7875-F2BB-F4B8-D66D5E03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35E67-BA91-F085-775E-E96D73B98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62C7E-6D43-0449-2578-EAAC5CD8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03E8-2707-393F-DACE-83FF6D00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E93BC-FEE3-02F4-6BE3-2259C18C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7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C94C-24CD-D7AF-B3E2-8C6096C3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11C66-088B-26CC-F0FF-50D38AC51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630F0-F249-A2DE-C2F9-CE1AABA73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18BC6-276C-0DD9-46AC-A212813F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B871D-CFF6-61C8-1F9B-97A418813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4FD4D-88FE-CDD2-B33A-FF8D0004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62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727A6-65D3-E619-B4E3-D96872515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B9591-6C14-B1CD-8E79-C33C521C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D97C2-3EF8-1C86-AF48-83CAD4CAB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2135D-3EB2-9143-C17A-BB77F1E45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35D6BF-73D3-C53B-B0FD-29279AB85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E9D172-8488-5382-526F-FB9C9531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BB13DA-E222-32EB-7E61-01F01E7D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ABD62-5EF8-C989-F486-41FC53E1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3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C5F9-6377-7B56-FD3C-1561D929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CB3C0-E8E1-A94B-E483-6936E657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C05B3-F64F-440F-A473-253D1E1B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45043-209B-9E07-C61C-75DFD5B97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20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5232DA-EAF9-6B25-3938-32F5F3E0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CAB88-55FF-E150-2C27-82989741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70398-4B01-6504-9AE4-BB5147A30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02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224B-1711-FBDD-73D0-A035D58EF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F938C-F2BE-9325-A36B-4481A63C0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80EF1-FB33-A7CF-1D9D-84B9CE641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467D-4418-339C-B471-F1B6CD64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9E871-85BF-F678-D5D2-A7BAB5CE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92043-3079-B444-7A0C-D214CC57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1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E9BB6-E649-C3B1-2527-4707CCA7E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9034A9-21C0-ED2F-ABB1-30C7059945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01DFC-EFFB-760F-6BB7-B07314D00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411B1-4846-A8BC-C811-B8E44F51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BC6D6-2251-E34B-16BF-B8FC0FAC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86500-0A41-9BAA-3260-6BACA594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50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9780-1D5F-85CE-6C20-072EB2D7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7E455-3AE5-AD94-5541-25C6189C9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EAA70-EA4A-6685-3855-4018994F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08794-E601-5DFC-2BFF-811976A9E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F49B5-7A6A-0906-2080-22BEFDA5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1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70313C-B314-C61C-4589-5468EAD21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F1C64-45E4-A4FC-837F-326A7C93D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CE007-D392-15C9-3639-AE80F30D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35E1C-D1AC-9937-CC67-77ECF2B6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34EDC-43B4-C548-2876-3391FD4C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47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67A344-DD3A-0AC4-14EE-6CE8F8FF5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CC9C-335D-E15E-5984-7B49ED98F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91018-C81D-A0CF-2697-0FBA33AE1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88500-9FCF-DB4F-BE06-958A48FAFDC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D42BE-AABC-12AA-634E-0D0C95FD7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D545C-EDE6-FDAE-1C48-1BA2B2503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533A-486C-934E-9450-C583FCACD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9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58973-17F2-A571-78C9-E007653B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DE00BA-4ACF-7EDC-F78B-DF0C7DA01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183" y="3632518"/>
            <a:ext cx="1091634" cy="1091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7939B2-C5CF-E32D-E416-F8A21A030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744" y="781311"/>
            <a:ext cx="1134827" cy="113482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B5D8790-22B7-628D-2C59-1F5081DE99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1489" y="4915995"/>
            <a:ext cx="1269255" cy="126925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7EB872F-6E44-868D-CE09-3D29047B18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4281" y="5085327"/>
            <a:ext cx="1269256" cy="12692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C06C95-CE20-67B9-6A42-21D0BDB22A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0527" y="646882"/>
            <a:ext cx="1269256" cy="126925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8F08F6-78BA-DC7E-D8F9-E83B2C661EFA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961173" y="1281510"/>
            <a:ext cx="2669354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C2C09E-2D92-A27C-E997-68EEC3C53AF0}"/>
              </a:ext>
            </a:extLst>
          </p:cNvPr>
          <p:cNvCxnSpPr>
            <a:cxnSpLocks/>
          </p:cNvCxnSpPr>
          <p:nvPr/>
        </p:nvCxnSpPr>
        <p:spPr>
          <a:xfrm>
            <a:off x="4413956" y="2017324"/>
            <a:ext cx="1230488" cy="161519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9E6864-73E6-5681-FB6F-1EB871D3E59B}"/>
              </a:ext>
            </a:extLst>
          </p:cNvPr>
          <p:cNvCxnSpPr>
            <a:cxnSpLocks/>
          </p:cNvCxnSpPr>
          <p:nvPr/>
        </p:nvCxnSpPr>
        <p:spPr>
          <a:xfrm flipH="1">
            <a:off x="3194756" y="2017324"/>
            <a:ext cx="742810" cy="2706828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A8D5DA-4A12-C4AE-ED91-340991C87B1A}"/>
              </a:ext>
            </a:extLst>
          </p:cNvPr>
          <p:cNvCxnSpPr>
            <a:cxnSpLocks/>
          </p:cNvCxnSpPr>
          <p:nvPr/>
        </p:nvCxnSpPr>
        <p:spPr>
          <a:xfrm>
            <a:off x="4855571" y="1733287"/>
            <a:ext cx="3757851" cy="335204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CF9D70-6BC4-66E9-D3E1-424BA75CD670}"/>
              </a:ext>
            </a:extLst>
          </p:cNvPr>
          <p:cNvCxnSpPr>
            <a:cxnSpLocks/>
          </p:cNvCxnSpPr>
          <p:nvPr/>
        </p:nvCxnSpPr>
        <p:spPr>
          <a:xfrm>
            <a:off x="3720744" y="5719955"/>
            <a:ext cx="4544411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3286D1-79F1-806B-379D-3F16F7E732D9}"/>
              </a:ext>
            </a:extLst>
          </p:cNvPr>
          <p:cNvCxnSpPr>
            <a:cxnSpLocks/>
          </p:cNvCxnSpPr>
          <p:nvPr/>
        </p:nvCxnSpPr>
        <p:spPr>
          <a:xfrm flipV="1">
            <a:off x="3578578" y="4595044"/>
            <a:ext cx="1823690" cy="659617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C05E40-2A32-F0F2-B199-49F4E6FBBBD7}"/>
              </a:ext>
            </a:extLst>
          </p:cNvPr>
          <p:cNvCxnSpPr>
            <a:cxnSpLocks/>
          </p:cNvCxnSpPr>
          <p:nvPr/>
        </p:nvCxnSpPr>
        <p:spPr>
          <a:xfrm>
            <a:off x="6759507" y="4542124"/>
            <a:ext cx="1554774" cy="846749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5CDF261-161F-8970-18EA-D96E1E712E1C}"/>
              </a:ext>
            </a:extLst>
          </p:cNvPr>
          <p:cNvCxnSpPr>
            <a:cxnSpLocks/>
          </p:cNvCxnSpPr>
          <p:nvPr/>
        </p:nvCxnSpPr>
        <p:spPr>
          <a:xfrm>
            <a:off x="8314281" y="2131917"/>
            <a:ext cx="634628" cy="2833581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3B88ED0-5EDC-4128-660D-AB7A6B6F3FD0}"/>
              </a:ext>
            </a:extLst>
          </p:cNvPr>
          <p:cNvCxnSpPr>
            <a:cxnSpLocks/>
          </p:cNvCxnSpPr>
          <p:nvPr/>
        </p:nvCxnSpPr>
        <p:spPr>
          <a:xfrm flipH="1">
            <a:off x="6607403" y="2017324"/>
            <a:ext cx="1169241" cy="173588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93426CD-F335-D9C4-4304-45F1568B1945}"/>
              </a:ext>
            </a:extLst>
          </p:cNvPr>
          <p:cNvSpPr txBox="1"/>
          <p:nvPr/>
        </p:nvSpPr>
        <p:spPr>
          <a:xfrm>
            <a:off x="3086116" y="148917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Water Temperature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1F5A7B-04FF-4FB9-7E46-6E881B38040E}"/>
              </a:ext>
            </a:extLst>
          </p:cNvPr>
          <p:cNvSpPr txBox="1"/>
          <p:nvPr/>
        </p:nvSpPr>
        <p:spPr>
          <a:xfrm>
            <a:off x="7057131" y="145604"/>
            <a:ext cx="241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Zooplankton Biomass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1DF058-9EA7-292C-9E00-FBAA04E2254B}"/>
              </a:ext>
            </a:extLst>
          </p:cNvPr>
          <p:cNvSpPr txBox="1"/>
          <p:nvPr/>
        </p:nvSpPr>
        <p:spPr>
          <a:xfrm>
            <a:off x="1833213" y="6350168"/>
            <a:ext cx="2505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Nutrient Concentration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E703E8-70B6-C9B3-E76A-15EF6EED2668}"/>
              </a:ext>
            </a:extLst>
          </p:cNvPr>
          <p:cNvSpPr txBox="1"/>
          <p:nvPr/>
        </p:nvSpPr>
        <p:spPr>
          <a:xfrm>
            <a:off x="7994655" y="6300357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Dissolved Oxygen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0367D9-8CB3-FA9D-FF06-2C9DF1EAE1E2}"/>
              </a:ext>
            </a:extLst>
          </p:cNvPr>
          <p:cNvSpPr txBox="1"/>
          <p:nvPr/>
        </p:nvSpPr>
        <p:spPr>
          <a:xfrm>
            <a:off x="5312549" y="4899200"/>
            <a:ext cx="165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Algal Biomass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2B069-055D-A2C9-96A3-1ABB8D06980A}"/>
              </a:ext>
            </a:extLst>
          </p:cNvPr>
          <p:cNvSpPr txBox="1"/>
          <p:nvPr/>
        </p:nvSpPr>
        <p:spPr>
          <a:xfrm>
            <a:off x="5867624" y="903474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+0.45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EF7BD4-408B-E55A-EF15-CB4A9B575E36}"/>
              </a:ext>
            </a:extLst>
          </p:cNvPr>
          <p:cNvSpPr txBox="1"/>
          <p:nvPr/>
        </p:nvSpPr>
        <p:spPr>
          <a:xfrm rot="17179900">
            <a:off x="3047065" y="2810761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+0.70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77500F-CBFC-5145-C8B6-F1C1F9A91197}"/>
              </a:ext>
            </a:extLst>
          </p:cNvPr>
          <p:cNvSpPr txBox="1"/>
          <p:nvPr/>
        </p:nvSpPr>
        <p:spPr>
          <a:xfrm rot="3185010">
            <a:off x="4691840" y="2429857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+0.40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61E917-47C1-DA18-1174-11A58E13F2EE}"/>
                  </a:ext>
                </a:extLst>
              </p:cNvPr>
              <p:cNvSpPr txBox="1"/>
              <p:nvPr/>
            </p:nvSpPr>
            <p:spPr>
              <a:xfrm rot="2524736">
                <a:off x="5345740" y="2069553"/>
                <a:ext cx="7906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0.35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61E917-47C1-DA18-1174-11A58E13F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24736">
                <a:off x="5345740" y="2069553"/>
                <a:ext cx="790601" cy="369332"/>
              </a:xfrm>
              <a:prstGeom prst="rect">
                <a:avLst/>
              </a:prstGeom>
              <a:blipFill>
                <a:blip r:embed="rId8"/>
                <a:stretch>
                  <a:fillRect r="-4478"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E0883D3-5B37-EA41-7996-89391CDDCECC}"/>
              </a:ext>
            </a:extLst>
          </p:cNvPr>
          <p:cNvSpPr txBox="1"/>
          <p:nvPr/>
        </p:nvSpPr>
        <p:spPr>
          <a:xfrm rot="20373704">
            <a:off x="3942202" y="4576887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+0.50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0B68D8-948C-CCBF-1BEF-57A97E97290C}"/>
                  </a:ext>
                </a:extLst>
              </p:cNvPr>
              <p:cNvSpPr txBox="1"/>
              <p:nvPr/>
            </p:nvSpPr>
            <p:spPr>
              <a:xfrm>
                <a:off x="5451429" y="5733535"/>
                <a:ext cx="7906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0.20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0B68D8-948C-CCBF-1BEF-57A97E972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429" y="5733535"/>
                <a:ext cx="790601" cy="369332"/>
              </a:xfrm>
              <a:prstGeom prst="rect">
                <a:avLst/>
              </a:prstGeom>
              <a:blipFill>
                <a:blip r:embed="rId9"/>
                <a:stretch>
                  <a:fillRect t="-6667" r="-476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426A48-4696-42FF-7DF5-EF62A435C13C}"/>
                  </a:ext>
                </a:extLst>
              </p:cNvPr>
              <p:cNvSpPr txBox="1"/>
              <p:nvPr/>
            </p:nvSpPr>
            <p:spPr>
              <a:xfrm rot="18269910">
                <a:off x="6737958" y="2426449"/>
                <a:ext cx="7906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0.55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426A48-4696-42FF-7DF5-EF62A435C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269910">
                <a:off x="6737958" y="2426449"/>
                <a:ext cx="790601" cy="369332"/>
              </a:xfrm>
              <a:prstGeom prst="rect">
                <a:avLst/>
              </a:prstGeom>
              <a:blipFill>
                <a:blip r:embed="rId10"/>
                <a:stretch>
                  <a:fillRect t="-4348"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8B6B9E-559A-CA91-423E-3A396E497C6B}"/>
                  </a:ext>
                </a:extLst>
              </p:cNvPr>
              <p:cNvSpPr txBox="1"/>
              <p:nvPr/>
            </p:nvSpPr>
            <p:spPr>
              <a:xfrm rot="4643167">
                <a:off x="8371235" y="3024565"/>
                <a:ext cx="7906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0.15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8B6B9E-559A-CA91-423E-3A396E497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643167">
                <a:off x="8371235" y="3024565"/>
                <a:ext cx="790601" cy="369332"/>
              </a:xfrm>
              <a:prstGeom prst="rect">
                <a:avLst/>
              </a:prstGeom>
              <a:blipFill>
                <a:blip r:embed="rId11"/>
                <a:stretch>
                  <a:fillRect l="-13953" r="-6977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A1A1F0-9827-6191-5F09-1D74FF238EF4}"/>
                  </a:ext>
                </a:extLst>
              </p:cNvPr>
              <p:cNvSpPr txBox="1"/>
              <p:nvPr/>
            </p:nvSpPr>
            <p:spPr>
              <a:xfrm rot="1773553">
                <a:off x="7050527" y="4491259"/>
                <a:ext cx="7906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0.65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A1A1F0-9827-6191-5F09-1D74FF238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73553">
                <a:off x="7050527" y="4491259"/>
                <a:ext cx="790601" cy="369332"/>
              </a:xfrm>
              <a:prstGeom prst="rect">
                <a:avLst/>
              </a:prstGeom>
              <a:blipFill>
                <a:blip r:embed="rId12"/>
                <a:stretch>
                  <a:fillRect r="-5797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799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</Words>
  <Application>Microsoft Macintosh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Helvetica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Martins</dc:creator>
  <cp:lastModifiedBy>Eduardo Martins</cp:lastModifiedBy>
  <cp:revision>1</cp:revision>
  <dcterms:created xsi:type="dcterms:W3CDTF">2026-04-09T13:25:43Z</dcterms:created>
  <dcterms:modified xsi:type="dcterms:W3CDTF">2026-04-09T13:27:15Z</dcterms:modified>
</cp:coreProperties>
</file>